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64E3"/>
                </a:solidFill>
                <a:latin typeface="Arial"/>
              </a:defRPr>
            </a:pPr>
            <a:r>
              <a:t>Marketing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Week of Feb 28 – Mar 6,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64E3"/>
                </a:solidFill>
                <a:latin typeface="Arial"/>
              </a:defRPr>
            </a:pPr>
            <a:r>
              <a:t>Inbound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621792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52144" cy="77724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Contact Sales</a:t>
            </a:r>
            <a:br/>
            <a:r>
              <a:t>(deduped)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0784" y="1554480"/>
            <a:ext cx="1152144" cy="77724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0784" y="1627632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2029968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Sales Outreach</a:t>
            </a:r>
            <a:br/>
            <a:r>
              <a:t>Completed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1554480"/>
            <a:ext cx="1152144" cy="77724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627632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029968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Meetings</a:t>
            </a:r>
            <a:br/>
            <a:r>
              <a:t>Scheduled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554480"/>
            <a:ext cx="1152144" cy="77724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952" y="1627632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  <a:latin typeface="Arial"/>
              </a:defRPr>
            </a:pPr>
            <a:r>
              <a:t>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2029968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Login</a:t>
            </a:r>
            <a:br/>
            <a:r>
              <a:t>(deduped)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31536" y="1554480"/>
            <a:ext cx="1152144" cy="77724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1627632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  <a:latin typeface="Arial"/>
              </a:defRPr>
            </a:pPr>
            <a:r>
              <a:t>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2029968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Verification Help</a:t>
            </a:r>
            <a:br/>
            <a:r>
              <a:t>(deduped)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5146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64E3"/>
                </a:solidFill>
                <a:latin typeface="Arial"/>
              </a:defRPr>
            </a:pPr>
            <a:r>
              <a:t>Conversion Funnel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07208"/>
            <a:ext cx="621792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718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Arial"/>
              </a:defRPr>
            </a:pPr>
            <a:r>
              <a:t>Form Fill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64208" y="2971800"/>
            <a:ext cx="5029200" cy="256032"/>
          </a:xfrm>
          <a:prstGeom prst="roundRect">
            <a:avLst>
              <a:gd name="adj" fmla="val 1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735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Arial"/>
              </a:defRPr>
            </a:pPr>
            <a:r>
              <a:t>Assigned to Rep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64208" y="3273552"/>
            <a:ext cx="5029200" cy="256032"/>
          </a:xfrm>
          <a:prstGeom prst="roundRect">
            <a:avLst>
              <a:gd name="adj" fmla="val 15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753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Arial"/>
              </a:defRPr>
            </a:pPr>
            <a:r>
              <a:t>First Contact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64208" y="3575304"/>
            <a:ext cx="2514600" cy="256032"/>
          </a:xfrm>
          <a:prstGeom prst="roundRect">
            <a:avLst>
              <a:gd name="adj" fmla="val 15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770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Arial"/>
              </a:defRPr>
            </a:pPr>
            <a:r>
              <a:t>Meeting (SAL)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64208" y="3877056"/>
            <a:ext cx="1257300" cy="256032"/>
          </a:xfrm>
          <a:prstGeom prst="roundRect">
            <a:avLst>
              <a:gd name="adj" fmla="val 1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788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Arial"/>
              </a:defRPr>
            </a:pPr>
            <a:r>
              <a:t>Deal Created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64208" y="4178808"/>
            <a:ext cx="628650" cy="25603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720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64E3"/>
                </a:solidFill>
                <a:latin typeface="Arial"/>
              </a:defRPr>
            </a:pPr>
            <a:r>
              <a:t>Email Campaigns Sent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64608"/>
            <a:ext cx="621792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7200" y="5029200"/>
            <a:ext cx="6217920" cy="4572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065776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Arial"/>
              </a:defRPr>
            </a:pPr>
            <a:r>
              <a:t>FCM Webinar Invites (Main List)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57800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Arial"/>
              </a:defRPr>
            </a:pPr>
            <a:r>
              <a:t>Delivered: ~2,046  |  Opens: ~22.9%  |  CTO: 58.1%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32120"/>
            <a:ext cx="6217920" cy="4572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568696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Arial"/>
              </a:defRPr>
            </a:pPr>
            <a:r>
              <a:t>FCM Webinar Closed-Lost Invite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760720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Arial"/>
              </a:defRPr>
            </a:pPr>
            <a:r>
              <a:t>Delivered: 667  |  Opens: 35.7%  |  CTO: 54.2%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35040"/>
            <a:ext cx="6217920" cy="4572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071616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Arial"/>
              </a:defRPr>
            </a:pPr>
            <a:r>
              <a:t>CMG Case Study 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263640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Arial"/>
              </a:defRPr>
            </a:pPr>
            <a:r>
              <a:t>Delivered: 3,761  |  Opens: 23.1%  |  CTO: 58.3%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836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64E3"/>
                </a:solidFill>
                <a:latin typeface="Arial"/>
              </a:defRPr>
            </a:pPr>
            <a:r>
              <a:t>Paid Media (Mar 2–5)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876288"/>
            <a:ext cx="621792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6995160"/>
            <a:ext cx="868680" cy="25603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70134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C47"/>
                </a:solidFill>
                <a:latin typeface="Arial"/>
              </a:defRPr>
            </a:pPr>
            <a:r>
              <a:t>Platform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5880" y="6995160"/>
            <a:ext cx="640080" cy="25603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5880" y="7013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C47"/>
                </a:solidFill>
                <a:latin typeface="Arial"/>
              </a:defRPr>
            </a:pPr>
            <a:r>
              <a:t>Spend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65960" y="6995160"/>
            <a:ext cx="777240" cy="25603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70134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C47"/>
                </a:solidFill>
                <a:latin typeface="Arial"/>
              </a:defRPr>
            </a:pPr>
            <a:r>
              <a:t>Impr.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6995160"/>
            <a:ext cx="777240" cy="25603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0" y="70134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C47"/>
                </a:solidFill>
                <a:latin typeface="Arial"/>
              </a:defRPr>
            </a:pPr>
            <a:r>
              <a:t>CPM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20440" y="6995160"/>
            <a:ext cx="640080" cy="25603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20440" y="7013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C47"/>
                </a:solidFill>
                <a:latin typeface="Arial"/>
              </a:defRPr>
            </a:pPr>
            <a:r>
              <a:t>Clicks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60520" y="6995160"/>
            <a:ext cx="640080" cy="25603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60520" y="7013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C47"/>
                </a:solidFill>
                <a:latin typeface="Arial"/>
              </a:defRPr>
            </a:pPr>
            <a:r>
              <a:t>CTR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00600" y="6995160"/>
            <a:ext cx="685800" cy="25603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00600" y="701344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C47"/>
                </a:solidFill>
                <a:latin typeface="Arial"/>
              </a:defRPr>
            </a:pPr>
            <a:r>
              <a:t>CPC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6995160"/>
            <a:ext cx="640080" cy="25603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7013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C47"/>
                </a:solidFill>
                <a:latin typeface="Arial"/>
              </a:defRPr>
            </a:pPr>
            <a:r>
              <a:t>Leads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727862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Arial"/>
              </a:defRPr>
            </a:pPr>
            <a:r>
              <a:t>Meta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25880" y="7278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$93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65960" y="727862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5,255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727862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$17.74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20440" y="7278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60520" y="7278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0.84%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0600" y="727862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$2.12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0" y="7278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753465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Arial"/>
              </a:defRPr>
            </a:pPr>
            <a:r>
              <a:t>LinkedIn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25880" y="753465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$450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65960" y="753465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3,520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753465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$127.84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20440" y="753465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0520" y="753465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0.51%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7534656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$25.00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0" y="753465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7781544"/>
            <a:ext cx="86868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779068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Arial"/>
              </a:defRPr>
            </a:pPr>
            <a:r>
              <a:t>Total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25880" y="7781544"/>
            <a:ext cx="64008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325880" y="77906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1A"/>
                </a:solidFill>
                <a:latin typeface="Arial"/>
              </a:defRPr>
            </a:pPr>
            <a:r>
              <a:t>$543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65960" y="7781544"/>
            <a:ext cx="77724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65960" y="779068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1A"/>
                </a:solidFill>
                <a:latin typeface="Arial"/>
              </a:defRPr>
            </a:pPr>
            <a:r>
              <a:t>8,775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0" y="7781544"/>
            <a:ext cx="77724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43200" y="779068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1A"/>
                </a:solidFill>
                <a:latin typeface="Arial"/>
              </a:defRPr>
            </a:pPr>
            <a:r>
              <a:t>$61.91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20440" y="7781544"/>
            <a:ext cx="64008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20440" y="77906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1A"/>
                </a:solidFill>
                <a:latin typeface="Arial"/>
              </a:defRPr>
            </a:pPr>
            <a:r>
              <a:t>62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60520" y="7781544"/>
            <a:ext cx="64008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60520" y="77906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1A"/>
                </a:solidFill>
                <a:latin typeface="Arial"/>
              </a:defRPr>
            </a:pPr>
            <a:r>
              <a:t>0.71%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00600" y="7781544"/>
            <a:ext cx="68580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800600" y="779068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1A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0" y="7781544"/>
            <a:ext cx="64008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0" y="77906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1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49440" y="1097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64E3"/>
                </a:solidFill>
                <a:latin typeface="Arial"/>
              </a:defRPr>
            </a:pPr>
            <a:r>
              <a:t>FCM Webinar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949440" y="1389888"/>
            <a:ext cx="493776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949440" y="1554480"/>
            <a:ext cx="2377440" cy="77724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49440" y="16276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64E3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49440" y="2029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Registrants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418320" y="1554480"/>
            <a:ext cx="2377440" cy="77724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18320" y="16276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  <a:latin typeface="Arial"/>
              </a:defRPr>
            </a:pPr>
            <a:r>
              <a:t>2,720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18320" y="2029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Emails Delivered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949440" y="2468880"/>
            <a:ext cx="4937760" cy="5943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949440" y="2468880"/>
            <a:ext cx="38100" cy="59436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086600" y="252374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64E3"/>
                </a:solidFill>
                <a:latin typeface="Arial"/>
              </a:rPr>
              <a:t>Stood up entire campaign this week</a:t>
            </a:r>
            <a:r>
              <a:rPr sz="900" b="0">
                <a:solidFill>
                  <a:srgbClr val="1A1A1A"/>
                </a:solidFill>
                <a:latin typeface="Arial"/>
              </a:rPr>
              <a:t> — project plan, audience segments, Knock/Wrapper, Clay table, 2 invite sends, LinkedIn post, plus closed-lost re-engagement to 494 contacts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949440" y="3200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64E3"/>
                </a:solidFill>
                <a:latin typeface="Arial"/>
              </a:defRPr>
            </a:pPr>
            <a:r>
              <a:t>Segmentation &amp; Targeting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949440" y="3493008"/>
            <a:ext cx="493776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6949440" y="3657600"/>
            <a:ext cx="4937760" cy="54864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949440" y="3657600"/>
            <a:ext cx="38100" cy="54864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86600" y="371246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64E3"/>
                </a:solidFill>
                <a:latin typeface="Arial"/>
              </a:rPr>
              <a:t>Found 39,956 untagged contacts</a:t>
            </a:r>
            <a:r>
              <a:rPr sz="900" b="0">
                <a:solidFill>
                  <a:srgbClr val="1A1A1A"/>
                </a:solidFill>
                <a:latin typeface="Arial"/>
              </a:rPr>
              <a:t> (19.1% of CRM) — built auto-tagging script that classified 33,333 business emails by vertical. Tagged 4,273 companies automatically.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949440" y="4279392"/>
            <a:ext cx="4937760" cy="54864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949440" y="4279392"/>
            <a:ext cx="38100" cy="54864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086600" y="433425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64E3"/>
                </a:solidFill>
                <a:latin typeface="Arial"/>
              </a:rPr>
              <a:t>New lending audience: 3,301 contacts</a:t>
            </a:r>
            <a:r>
              <a:rPr sz="900" b="0">
                <a:solidFill>
                  <a:srgbClr val="1A1A1A"/>
                </a:solidFill>
                <a:latin typeface="Arial"/>
              </a:rPr>
              <a:t> — queried 5 lending verticals (IMB, Bank, CU, Home Equity, Subprime) with 12-month engagement signals. Synced to Knock for campaign sends.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49440" y="49011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64E3"/>
                </a:solidFill>
                <a:latin typeface="Arial"/>
              </a:defRPr>
            </a:pPr>
            <a:r>
              <a:t>What's New: Truv Marketing Hub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949440" y="5193792"/>
            <a:ext cx="493776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949440" y="53126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Arial"/>
              </a:defRPr>
            </a:pPr>
            <a:r>
              <a:t>Bi-directional HubSpot ↔ Linear sync. Read-only dashboard for the whole team — no access needed. truv-brain.vercel.app/hub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0" y="57241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64E3"/>
                </a:solidFill>
                <a:latin typeface="Arial"/>
              </a:defRPr>
            </a:pPr>
            <a:r>
              <a:t>Upcoming Next Week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949440" y="6016752"/>
            <a:ext cx="4937760" cy="25400"/>
          </a:xfrm>
          <a:prstGeom prst="rect">
            <a:avLst/>
          </a:prstGeom>
          <a:solidFill>
            <a:srgbClr val="2C6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949440" y="6181344"/>
            <a:ext cx="493776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Arial"/>
              </a:defRPr>
              <a:buFont typeface="Arial"/>
              <a:buChar char="•"/>
              <a:buClr>
                <a:srgbClr val="2C64E3"/>
              </a:buClr>
            </a:pPr>
            <a:r>
              <a:t>FCM Webinar Invites 3 &amp; 4 + day-of reminder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Arial"/>
              </a:defRPr>
              <a:buFont typeface="Arial"/>
              <a:buChar char="•"/>
              <a:buClr>
                <a:srgbClr val="2C64E3"/>
              </a:buClr>
            </a:pPr>
            <a:r>
              <a:t>Product Update Email — live send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Arial"/>
              </a:defRPr>
              <a:buFont typeface="Arial"/>
              <a:buChar char="•"/>
              <a:buClr>
                <a:srgbClr val="2C64E3"/>
              </a:buClr>
            </a:pPr>
            <a:r>
              <a:t>BankSouth Case Study Email — live send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Arial"/>
              </a:defRPr>
              <a:buFont typeface="Arial"/>
              <a:buChar char="•"/>
              <a:buClr>
                <a:srgbClr val="2C64E3"/>
              </a:buClr>
            </a:pPr>
            <a:r>
              <a:t>FCM Closed-Lost reminder emails (2 of 3, 3 of 3)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Arial"/>
              </a:defRPr>
              <a:buFont typeface="Arial"/>
              <a:buChar char="•"/>
              <a:buClr>
                <a:srgbClr val="2C64E3"/>
              </a:buClr>
            </a:pPr>
            <a:r>
              <a:t>Case Study emails to Mortgage Ops (CCM, PHM, FCM)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Arial"/>
              </a:defRPr>
              <a:buFont typeface="Arial"/>
              <a:buChar char="•"/>
              <a:buClr>
                <a:srgbClr val="2C64E3"/>
              </a:buClr>
            </a:pPr>
            <a:r>
              <a:t>Whitepaper Email Campaign send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Arial"/>
              </a:defRPr>
              <a:buFont typeface="Arial"/>
              <a:buChar char="•"/>
              <a:buClr>
                <a:srgbClr val="2C64E3"/>
              </a:buClr>
            </a:pPr>
            <a:r>
              <a:t>March Insider Public Sector Webinar setup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